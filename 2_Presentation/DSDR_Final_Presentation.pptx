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82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7118" autoAdjust="0"/>
  </p:normalViewPr>
  <p:slideViewPr>
    <p:cSldViewPr snapToGrid="0" snapToObjects="1">
      <p:cViewPr varScale="1">
        <p:scale>
          <a:sx n="75" d="100"/>
          <a:sy n="75" d="100"/>
        </p:scale>
        <p:origin x="94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5260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afternoon. I am Jhala Nath Kafle, roll number 081 MSPSE 009. My project is on dual-setting directional recloser and fuse coordination in distribution networks with distributed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DG can break recloser-fuse coordination. I implemented a dual-setting directional recloser on the IEEE 13-node feeder. With the DG, coordination holds in 24 of 39 cells; with the DSDR and revised fuses, in 38 of 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will go through the introduction, literature, methodology, results and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recloser trips fast to save the fuse on a temporary fault. That works only while both carry the same current. With a DG the fuse carries more current than the recloser, and it can melt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general objective is to build and validate the DSDR method on the IEEE 13-node feeder in PowerFactory. There are seven specific objectives, from building the model to the DG penetration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These are the limits of the study. The method does not fix the R2 settings, the fuse sizes or the source, so I defined them. The library relay is not directional, so the direction is assigned from the fault location. Coordination uses a zero-margin criterion. There is one DG </a:t>
            </a:r>
            <a:r>
              <a:rPr dirty="0" smtClean="0"/>
              <a:t>location</a:t>
            </a:r>
            <a:r>
              <a:rPr lang="en-US" dirty="0" smtClean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literature covers coordination with DG, the DSDR method, relay curves and the test feeder. The gap is an independent implementation with real relay curves, dial ranges and fuse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Study carried out in </a:t>
            </a:r>
            <a:r>
              <a:rPr dirty="0" smtClean="0"/>
              <a:t>A </a:t>
            </a:r>
            <a:r>
              <a:rPr dirty="0"/>
              <a:t>4.16 kV feeder with a 4.05 MVA synchronous DG at node 692. R1 is at the feeder head, R2 is on line 632 to 671, and fuses protect the laterals.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Load flow determines branch currents, and </a:t>
            </a:r>
            <a:r>
              <a:rPr lang="en-US" dirty="0" err="1" smtClean="0"/>
              <a:t>recloser</a:t>
            </a:r>
            <a:r>
              <a:rPr lang="en-US" dirty="0" smtClean="0"/>
              <a:t> pickups are set at </a:t>
            </a:r>
            <a:r>
              <a:rPr lang="en-US" b="1" dirty="0" smtClean="0"/>
              <a:t>1.25× current</a:t>
            </a:r>
            <a:r>
              <a:rPr lang="en-US" dirty="0" smtClean="0"/>
              <a:t>. R2 uses separate </a:t>
            </a:r>
            <a:r>
              <a:rPr lang="en-US" b="1" dirty="0" smtClean="0"/>
              <a:t>forward/reverse settings</a:t>
            </a:r>
            <a:r>
              <a:rPr lang="en-US" dirty="0" smtClean="0"/>
              <a:t> for grid and DG. Fuses are sized, then faults are checked. If coordination fails, the </a:t>
            </a:r>
            <a:r>
              <a:rPr lang="en-US" b="1" dirty="0" smtClean="0"/>
              <a:t>time dial is adjusted first</a:t>
            </a:r>
            <a:r>
              <a:rPr lang="en-US" dirty="0" smtClean="0"/>
              <a:t>, followed by increasing the </a:t>
            </a:r>
            <a:r>
              <a:rPr lang="en-US" b="1" dirty="0" smtClean="0"/>
              <a:t>fuse rating</a:t>
            </a:r>
            <a:r>
              <a:rPr lang="en-US" dirty="0" smtClean="0"/>
              <a:t> if necessary.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method's equations: the recloser curve, the pickup, the fuse line and the coordination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kept the method's structure and used each manufacturer's curve: the GE IAC equation for R1 and the CDG34 table for R2. R1 reproduces the paper's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 picks up at 720 amperes. R2 has a forward group of 300 and 600 amperes and a new reverse group of 150 and 300. The dials were at their limits, so the fuses were revised.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Without DG, 35 of 39 cells are coordinated, and all 39 after one fuse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Rated currents agree with the paper within 2 per cent. My fault levels match the IEEE benchmark within 2 per cent; the </a:t>
            </a:r>
            <a:r>
              <a:rPr dirty="0" smtClean="0"/>
              <a:t>paper's</a:t>
            </a:r>
            <a:r>
              <a:rPr lang="en-US" dirty="0" smtClean="0"/>
              <a:t> fault</a:t>
            </a:r>
            <a:r>
              <a:rPr lang="en-US" baseline="0" dirty="0" smtClean="0"/>
              <a:t> levels</a:t>
            </a:r>
            <a:r>
              <a:rPr dirty="0" smtClean="0"/>
              <a:t> </a:t>
            </a:r>
            <a:r>
              <a:rPr dirty="0"/>
              <a:t>are higher.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fuse coefficients agree with the paper's Table three within 0.33.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With the DG and the same settings, only 24 of 39 cells </a:t>
            </a:r>
            <a:r>
              <a:rPr dirty="0" smtClean="0"/>
              <a:t>hold</a:t>
            </a:r>
            <a:r>
              <a:rPr lang="en-US" dirty="0" smtClean="0"/>
              <a:t> coordination</a:t>
            </a:r>
            <a:r>
              <a:rPr dirty="0" smtClean="0"/>
              <a:t>. </a:t>
            </a:r>
            <a:r>
              <a:rPr dirty="0"/>
              <a:t>The fuse melts before the fast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smtClean="0"/>
              <a:t>I </a:t>
            </a:r>
            <a:r>
              <a:rPr dirty="0"/>
              <a:t>hold </a:t>
            </a:r>
            <a:r>
              <a:rPr lang="en-US" dirty="0" smtClean="0"/>
              <a:t>coordination on </a:t>
            </a:r>
            <a:r>
              <a:rPr dirty="0" smtClean="0"/>
              <a:t>24 </a:t>
            </a:r>
            <a:r>
              <a:rPr lang="en-US" dirty="0" smtClean="0"/>
              <a:t>cell while </a:t>
            </a:r>
            <a:r>
              <a:rPr dirty="0" smtClean="0"/>
              <a:t>paper </a:t>
            </a:r>
            <a:r>
              <a:rPr lang="en-US" dirty="0" smtClean="0"/>
              <a:t>in </a:t>
            </a:r>
            <a:r>
              <a:rPr dirty="0" smtClean="0"/>
              <a:t>30</a:t>
            </a:r>
            <a:r>
              <a:rPr dirty="0"/>
              <a:t>. We agree in 29 of 39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 the DG grows from 0 to 100 per cent, the CTI falls: at 633 from plus 4 to minus 51 milliseconds. The paper shows the same trend. This is why an adaptive setting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With the DSDR and revised fuses, 38 of 39 cells </a:t>
            </a:r>
            <a:r>
              <a:rPr dirty="0" smtClean="0"/>
              <a:t>hold</a:t>
            </a:r>
            <a:r>
              <a:rPr lang="en-US" dirty="0" smtClean="0"/>
              <a:t> coordination</a:t>
            </a:r>
            <a:r>
              <a:rPr dirty="0" smtClean="0"/>
              <a:t>. </a:t>
            </a:r>
            <a:r>
              <a:rPr dirty="0"/>
              <a:t>The dual setting alone restores seven cells. Only the LG fault at 692 stays lost, at R2's dial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a line-to-line fault at 646, R2 trips in 0.086 seconds on its reverse group and R1 in 0.189. The fuse would melt at 0.415, so it is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My operating times next to the paper's Table four. In both, the fuse melts after the fast trip in every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Same fault, same current. With the single setting R2 trips in 0.121 seconds</a:t>
            </a:r>
            <a:r>
              <a:rPr dirty="0" smtClean="0"/>
              <a:t>:</a:t>
            </a:r>
            <a:r>
              <a:rPr lang="en-US" dirty="0" smtClean="0"/>
              <a:t> coordination is </a:t>
            </a:r>
            <a:r>
              <a:rPr dirty="0" smtClean="0"/>
              <a:t> </a:t>
            </a:r>
            <a:r>
              <a:rPr dirty="0"/>
              <a:t>lost. With the reverse group, 0.052 seconds</a:t>
            </a:r>
            <a:r>
              <a:rPr dirty="0" smtClean="0"/>
              <a:t>:</a:t>
            </a:r>
            <a:r>
              <a:rPr lang="en-US" dirty="0" smtClean="0"/>
              <a:t> coordination is </a:t>
            </a:r>
            <a:r>
              <a:rPr dirty="0" smtClean="0"/>
              <a:t> </a:t>
            </a:r>
            <a:r>
              <a:rPr dirty="0"/>
              <a:t>held.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EMT run confirms it in time. Without DG the fuse survives the two </a:t>
            </a:r>
            <a:r>
              <a:rPr dirty="0" smtClean="0"/>
              <a:t>fast. </a:t>
            </a:r>
            <a:r>
              <a:rPr dirty="0"/>
              <a:t>With DG it melts during the second 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 summary: 24 cells with a conventional </a:t>
            </a:r>
            <a:r>
              <a:rPr dirty="0" err="1"/>
              <a:t>recloser</a:t>
            </a:r>
            <a:r>
              <a:rPr dirty="0"/>
              <a:t>, 25 with the DSDR alone, 31 with the fuse revision alone, and 38 with </a:t>
            </a:r>
            <a:r>
              <a:rPr dirty="0" smtClean="0"/>
              <a:t>both</a:t>
            </a:r>
            <a:r>
              <a:rPr lang="en-US" dirty="0" smtClean="0"/>
              <a:t> holds coordination</a:t>
            </a:r>
            <a:r>
              <a:rPr dirty="0" smtClean="0"/>
              <a:t>. </a:t>
            </a:r>
            <a:r>
              <a:rPr dirty="0"/>
              <a:t>The paper reports 30 and 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conclude: the DSDR with the fuse revision raises coordination from 24 to 38 of 39 cells. It is necessary but not sufficient: it needs the fuse revision. Future work includes the 34-node feeder, a true directional element and inverter-based DG.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are the main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you. I am happy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292607"/>
            <a:ext cx="1417320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810512"/>
            <a:ext cx="1219169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Times New Roman"/>
              </a:rPr>
              <a:t>TRIBHUVAN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66543"/>
            <a:ext cx="1219169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Times New Roman"/>
              </a:rPr>
              <a:t>Institute of Engineering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Times New Roman"/>
              </a:rPr>
              <a:t>Pulchowk, Lalitpur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06040"/>
            <a:ext cx="1219169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Project Report Presentation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1083564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AN ADAPTIVE OVERCURRENT PROTECTION SCHEME FOR DUAL-SETTING</a:t>
            </a:r>
          </a:p>
          <a:p>
            <a:pPr algn="ctr">
              <a:spcAft>
                <a:spcPts val="8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DIRECTIONAL RECLOSER AND FUSE COORDINATION IN UNBALANCED</a:t>
            </a:r>
          </a:p>
          <a:p>
            <a:pPr algn="ctr">
              <a:spcAft>
                <a:spcPts val="800"/>
              </a:spcAft>
            </a:pPr>
            <a:r>
              <a:rPr sz="2100" b="1" i="0">
                <a:solidFill>
                  <a:srgbClr val="000000"/>
                </a:solidFill>
                <a:latin typeface="Times New Roman"/>
              </a:rPr>
              <a:t>DISTRIBUTION NETWORKS WITH DISTRIBUTED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3749039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Submitted To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Department of Electrical Engineering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Pulchowk, Lalitpur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5120640"/>
            <a:ext cx="32918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Submitted By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Jhala Nath Kafle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081MSPSE009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6355080"/>
            <a:ext cx="3657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OCTOBER,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Abstract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10789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444444"/>
                </a:solidFill>
                <a:latin typeface="Times New Roman"/>
              </a:rPr>
              <a:t>IEEE 13-node feeder, 4.16 kV, with a 4.05 MVA synchronous DG at node 692, in DIgSILENT PowerFactory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100"/>
              </a:spcAft>
              <a:buChar char="•"/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A DG changes the magnitude and the direction of the fault current, so conventional recloser–fuse (fuse-saving) coordination can be lost.</a:t>
            </a:r>
          </a:p>
          <a:p>
            <a:pPr marL="274320" indent="-274320">
              <a:spcAft>
                <a:spcPts val="1100"/>
              </a:spcAft>
              <a:buChar char="•"/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The study implements a dual-setting directional recloser (DSDR): the mid-line recloser gets independent forward and reverse settings.</a:t>
            </a:r>
          </a:p>
          <a:p>
            <a:pPr marL="274320" indent="-274320">
              <a:spcAft>
                <a:spcPts val="1100"/>
              </a:spcAft>
              <a:buChar char="•"/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The work uses unbalanced load flow, short-circuit studies for LG, LL, LLG and LLL faults, manufacturer-based relay and fuse curves, and an EMT simulation.</a:t>
            </a:r>
          </a:p>
          <a:p>
            <a:pPr marL="274320" indent="-274320">
              <a:spcAft>
                <a:spcPts val="1100"/>
              </a:spcAft>
              <a:buChar char="•"/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With the DG, a conventional recloser keeps coordination in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24 of 39</a:t>
            </a:r>
            <a:r>
              <a:rPr sz="1700" b="0" i="0">
                <a:solidFill>
                  <a:srgbClr val="111111"/>
                </a:solidFill>
                <a:latin typeface="Times New Roman"/>
              </a:rPr>
              <a:t> fault cells; the DSDR alone in 25.</a:t>
            </a:r>
          </a:p>
          <a:p>
            <a:pPr marL="274320" indent="-274320">
              <a:spcAft>
                <a:spcPts val="1100"/>
              </a:spcAft>
              <a:buChar char="•"/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The DSDR with a revision of the fuse sizes keeps </a:t>
            </a:r>
            <a:r>
              <a:rPr sz="1700" b="1" i="0">
                <a:solidFill>
                  <a:srgbClr val="111111"/>
                </a:solidFill>
                <a:latin typeface="Times New Roman"/>
              </a:rPr>
              <a:t>38 of 39</a:t>
            </a:r>
            <a:r>
              <a:rPr sz="1700" b="0" i="0">
                <a:solidFill>
                  <a:srgbClr val="111111"/>
                </a:solidFill>
                <a:latin typeface="Times New Roman"/>
              </a:rPr>
              <a:t> cells; the remaining LG fault at node 692 is limited by the delayed dial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74920"/>
            <a:ext cx="10332720" cy="6858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600" b="1" i="0">
                <a:solidFill>
                  <a:srgbClr val="111111"/>
                </a:solidFill>
                <a:latin typeface="Times New Roman"/>
              </a:rPr>
              <a:t>Core message: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the dual setting restores the coordination between the grid and the DG, but only together with the fuse revision.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Presentation 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68680" y="1188720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Chapter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9040" y="1194628"/>
            <a:ext cx="8961120" cy="353943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 dirty="0">
                <a:solidFill>
                  <a:srgbClr val="111111"/>
                </a:solidFill>
                <a:latin typeface="Times New Roman"/>
              </a:rPr>
              <a:t>Introduction, problem statement, </a:t>
            </a:r>
            <a:r>
              <a:rPr sz="1700" b="0" i="0" dirty="0" smtClean="0">
                <a:solidFill>
                  <a:srgbClr val="111111"/>
                </a:solidFill>
                <a:latin typeface="Times New Roman"/>
              </a:rPr>
              <a:t>objectives</a:t>
            </a:r>
            <a:r>
              <a:rPr lang="en-US" sz="1700" b="0" i="0" dirty="0" smtClean="0">
                <a:solidFill>
                  <a:srgbClr val="111111"/>
                </a:solidFill>
                <a:latin typeface="Times New Roman"/>
              </a:rPr>
              <a:t>,</a:t>
            </a:r>
            <a:r>
              <a:rPr sz="1700" b="0" i="0" dirty="0" smtClean="0">
                <a:solidFill>
                  <a:srgbClr val="111111"/>
                </a:solidFill>
                <a:latin typeface="Times New Roman"/>
              </a:rPr>
              <a:t> scope</a:t>
            </a:r>
            <a:r>
              <a:rPr lang="en-US" sz="1700" b="0" i="0" dirty="0" smtClean="0">
                <a:solidFill>
                  <a:srgbClr val="111111"/>
                </a:solidFill>
                <a:latin typeface="Times New Roman"/>
              </a:rPr>
              <a:t> and limitation</a:t>
            </a:r>
            <a:endParaRPr sz="1700" b="0" i="0" dirty="0">
              <a:solidFill>
                <a:srgbClr val="111111"/>
              </a:solidFill>
              <a:latin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68680" y="1938528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Chapter 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29384"/>
            <a:ext cx="8961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Literature review, research gap and positioning of the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688336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Chapter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679192"/>
            <a:ext cx="8961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Methodology: test system, flowchart, formulation and protection settings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438144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Chapter 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29000"/>
            <a:ext cx="8961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Results and discussion: coordination without DG and with DG; DG penetration; the DSDR; EMT check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187952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Chapter 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78808"/>
            <a:ext cx="8961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Conclusion, recommendation and future scope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37759"/>
            <a:ext cx="1325880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928616"/>
            <a:ext cx="89611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Times New Roman"/>
              </a:rPr>
              <a:t>Method, test feeder and device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I: Background and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280160"/>
            <a:ext cx="5577840" cy="3566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Fuse saving: the recloser trips on its fast curve before the lateral fuse melts; its delayed curve lets the fuse clear a permanent fault.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Coordination holds only while the recloser and the fuse carry the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same current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With a DG the fuse carries grid + DG current; the recloser only the grid share.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A mid-line recloser can see current in the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reverse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direction.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The fuse can melt before the fast trip: fuse saving is lost.</a:t>
            </a:r>
          </a:p>
        </p:txBody>
      </p:sp>
      <p:pic>
        <p:nvPicPr>
          <p:cNvPr id="10" name="Picture 9" descr="fig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122" y="1234440"/>
            <a:ext cx="4714875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9400" y="4700016"/>
            <a:ext cx="4846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Conventional recloser–fuse coordination (R1 and fuse F646)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4956048"/>
            <a:ext cx="4846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Times New Roman"/>
              </a:rPr>
              <a:t>Fast curve below the fuse band, delayed curve above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440680"/>
            <a:ext cx="10241280" cy="68580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 i="0">
                <a:solidFill>
                  <a:srgbClr val="111111"/>
                </a:solidFill>
                <a:latin typeface="Times New Roman"/>
              </a:rPr>
              <a:t>Problem focus: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can independent forward and reverse settings of the mid-line recloser restore the recloser–fuse coordination when a DG is connected?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I: Objectives and Study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1556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B2545"/>
                </a:solidFill>
                <a:latin typeface="Times New Roman"/>
              </a:rPr>
              <a:t>General Objective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481328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0" i="0">
                <a:solidFill>
                  <a:srgbClr val="111111"/>
                </a:solidFill>
                <a:latin typeface="Times New Roman"/>
              </a:rPr>
              <a:t>To build and validate a DIgSILENT PowerFactory implementation of the dual-setting directional recloser (DSDR) coordination method on the IEEE 13-node feeder, with and without distributed generation.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B2545"/>
                </a:solidFill>
                <a:latin typeface="Times New Roman"/>
              </a:rPr>
              <a:t>Specific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61488"/>
            <a:ext cx="10607040" cy="2834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1.  To build and verify the IEEE 13-node feeder with its recloser and fuse protection.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2.  To perform unbalanced load-flow and short-circuit studies for LG, LL, LLG and LLL faults.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3.  To calculate the recloser pickups, time dials and fuse coefficients.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4.  To establish the coordination without DG, and with a 4.05 MVA synchronous DG at node 692.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5.  To design the DSDR settings of R2 and classify the resulting coordination.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6.  To verify the reclosing sequence in the time domain (EMT simulation).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7.  To study the effect of the DG penetration level from 0 to 100 %.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669280"/>
            <a:ext cx="10515600" cy="54864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00" b="1" i="0">
                <a:solidFill>
                  <a:srgbClr val="111111"/>
                </a:solidFill>
                <a:latin typeface="Times New Roman"/>
              </a:rPr>
              <a:t>Scope:</a:t>
            </a:r>
            <a:r>
              <a:rPr sz="1400" b="0" i="0">
                <a:solidFill>
                  <a:srgbClr val="111111"/>
                </a:solidFill>
                <a:latin typeface="Times New Roman"/>
              </a:rPr>
              <a:t> IEEE 13-node feeder; 12 fault locations × 4 fault types = 39 cells; one DG location (692); zero-margin criterion CTI &gt;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0B2545"/>
                </a:solidFill>
                <a:latin typeface="Times New Roman"/>
              </a:rPr>
              <a:t>Chapter I: Limitations of the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22960" y="1481328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298448"/>
            <a:ext cx="9966960" cy="80467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600" b="1">
                <a:solidFill>
                  <a:srgbClr val="0B2545"/>
                </a:solidFill>
                <a:latin typeface="Times New Roman"/>
              </a:rPr>
              <a:t>Settings not specified by the method. </a:t>
            </a:r>
            <a:r>
              <a:rPr sz="1500" b="0">
                <a:solidFill>
                  <a:srgbClr val="111111"/>
                </a:solidFill>
                <a:latin typeface="Times New Roman"/>
              </a:rPr>
              <a:t>R2's plug and dial settings, the fuse sizes and the source impedance are not given, so they were defined in this study and are listed.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59152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176272"/>
            <a:ext cx="9966960" cy="80467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600" b="1">
                <a:solidFill>
                  <a:srgbClr val="0B2545"/>
                </a:solidFill>
                <a:latin typeface="Times New Roman"/>
              </a:rPr>
              <a:t>R2 is not directional in the library. </a:t>
            </a:r>
            <a:r>
              <a:rPr sz="1500" b="0">
                <a:solidFill>
                  <a:srgbClr val="111111"/>
                </a:solidFill>
                <a:latin typeface="Times New Roman"/>
              </a:rPr>
              <a:t>The CDG34 model has no direction element: the forward and reverse groups are separate relay units and the direction is assigned from the fault location.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236976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054096"/>
            <a:ext cx="9966960" cy="80467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600" b="1">
                <a:solidFill>
                  <a:srgbClr val="0B2545"/>
                </a:solidFill>
                <a:latin typeface="Times New Roman"/>
              </a:rPr>
              <a:t>Zero-margin criterion. </a:t>
            </a:r>
            <a:r>
              <a:rPr sz="1500" b="0">
                <a:solidFill>
                  <a:srgbClr val="111111"/>
                </a:solidFill>
                <a:latin typeface="Times New Roman"/>
              </a:rPr>
              <a:t>Coordination is held when the fuse does not start to melt before the fast trip; no breaker time or safety factor is added.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14800"/>
            <a:ext cx="457200" cy="4572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931920"/>
            <a:ext cx="9966960" cy="804672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/>
            <a:r>
              <a:rPr sz="1600" b="1">
                <a:solidFill>
                  <a:srgbClr val="0B2545"/>
                </a:solidFill>
                <a:latin typeface="Times New Roman"/>
              </a:rPr>
              <a:t>One DG location and one machine type. </a:t>
            </a:r>
            <a:r>
              <a:rPr sz="1500" b="0">
                <a:solidFill>
                  <a:srgbClr val="111111"/>
                </a:solidFill>
                <a:latin typeface="Times New Roman"/>
              </a:rPr>
              <a:t>A synchronous DG at node 692 only; the penetration study keeps the settings of the design without DG.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4967223"/>
            <a:ext cx="9966960" cy="4572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l"/>
            <a:r>
              <a:rPr sz="1500" b="1" dirty="0">
                <a:solidFill>
                  <a:srgbClr val="111111"/>
                </a:solidFill>
                <a:latin typeface="Times New Roman"/>
              </a:rPr>
              <a:t>Reading the results: </a:t>
            </a:r>
            <a:r>
              <a:rPr sz="1500" b="0" dirty="0">
                <a:solidFill>
                  <a:srgbClr val="111111"/>
                </a:solidFill>
                <a:latin typeface="Times New Roman"/>
              </a:rPr>
              <a:t>the cell counts apply to these settings and to the zero-margin criterion.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777777"/>
                </a:solidFill>
                <a:latin typeface="Times New Roman"/>
              </a:rPr>
              <a:t>6</a:t>
            </a:r>
          </a:p>
        </p:txBody>
      </p:sp>
      <p:sp>
        <p:nvSpPr>
          <p:cNvPr id="16" name="Oval 15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II: Literature Positioning and Gap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7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280160"/>
          <a:ext cx="10607039" cy="3566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Literature stream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Representative sources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Relevance and remaining gap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Recloser–fuse coordination with DG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Naiem et al. [3]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Classifies when coordination holds or is lost with DG; fixed, single settings.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Dual-setting directional recloser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Yousaf et al. [1]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The method implemented here; R2 settings and fuse sizes are not fully specified.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Relay characteristics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Benmouyal et al. [2]; GE Multilin [4]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Inverse-time equations; the method uses a generic curve, real relays have fixed curves and dial ranges.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Test feeder and benchmark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Kersting [5]; Kersting &amp; Shirek [7]; Yousaf et al. [6]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IEEE 13-node data and short-circuit benchmark used to validate the model.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166360"/>
            <a:ext cx="10607040" cy="6858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 i="0">
                <a:solidFill>
                  <a:srgbClr val="111111"/>
                </a:solidFill>
                <a:latin typeface="Times New Roman"/>
              </a:rPr>
              <a:t>Gap addressed: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an independent PowerFactory implementation of the DSDR method with manufacturer-based curves, real dial ranges and standard fuse sizes.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III: Study System and Inputs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8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188720"/>
          <a:ext cx="5760720" cy="2706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Methodological definition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Test system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IEEE 13-node feeder, 4.16 kV, unbalanced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Source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115 kV grid, 5 MVA substation transformer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DG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4.05 MVA synchronous machine at node 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R1 (feeder head)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GE IAC77B801A, extremely inverse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(line 632–671)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GE/Alstom CDG34 – becomes the DSDR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Fuses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A055C, E-rated, on the laterals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Studies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Unbalanced load flow, short circuit, EMT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986784"/>
            <a:ext cx="5760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B2545"/>
                </a:solidFill>
                <a:latin typeface="Times New Roman"/>
              </a:rPr>
              <a:t>Parameters of the synchronous DG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4297680"/>
          <a:ext cx="5760716" cy="1755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20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11111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11111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11111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111111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Rating Sn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4.05 MVA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Xd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1.4 pu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Voltage Un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0.69 kV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X'd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0.231 pu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Step-up transformer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0.69 / 4.16 kV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X''d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0.118 pu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Transformer reactance xT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0.15 pu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Starting time M = 2H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1.5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Operating point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3.24 MW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Stator resistance Ra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0.0014 pu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1" descr="s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43000"/>
            <a:ext cx="5394960" cy="32838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4463464"/>
            <a:ext cx="53949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IEEE 13-node feeder with reclosers R1, R2, fuses and the DG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III: Overall Methodology Flowchart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9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122" y="1097280"/>
            <a:ext cx="3679115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0664" y="132588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Stage A: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conventional scheme without DG; pickup I_p = 1.25 × I_nom; fuses sized and checked.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Stage B: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the same settings with the DG connected; all 39 cells classified.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600" b="1" i="0">
                <a:solidFill>
                  <a:srgbClr val="111111"/>
                </a:solidFill>
                <a:latin typeface="Times New Roman"/>
              </a:rPr>
              <a:t>Stage C: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R2 as a DSDR; reverse pickup from the reverse load current; forward and reverse dials.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If coordination is lost: revise the time dial; at the dial limit, upgrade the fuse size.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074920"/>
            <a:ext cx="4937760" cy="8229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1" i="0">
                <a:solidFill>
                  <a:srgbClr val="111111"/>
                </a:solidFill>
                <a:latin typeface="Times New Roman"/>
              </a:rPr>
              <a:t>Check: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the fuse must not start to melt before the fast trip, and must clear before the delayed trip.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III: Mathematical Formulation of the Method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10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SDR_equations_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47" y="1097280"/>
            <a:ext cx="1073682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III: Formulation Used for the Operating Times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SDR_equations_im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29" y="1097280"/>
            <a:ext cx="11057860" cy="365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800600"/>
            <a:ext cx="1069848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The method fixes the structure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t = TDS × g(M)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, with M = I_f / I_p; the constants A, B and n describe only a generic curve.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So g(M) is taken from the manufacturer of each relay: the IAC extremely inverse equation for R1, the CDG34 table for R2.</a:t>
            </a:r>
          </a:p>
          <a:p>
            <a:pPr marL="274320" indent="-274320">
              <a:spcAft>
                <a:spcPts val="6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Check: R1 gives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0.096 / 1.926 s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at 4219 A, against 0.097 / 1.932 s in the reference paper.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III: Protection Settings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25880"/>
          <a:ext cx="10515600" cy="190195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Device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Characteristic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Pickup / plug (fast / delayed)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Dial (fast / delayed)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R1 (feeder head)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GE IAC extremely inverse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720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TDS 0.5 / 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forward (grid current)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CDG34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300 / 600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TMS 0.1 / 1.0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reverse (DG current)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CDG34, CT 500/5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150 / 300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TMS 0.1 / 1.0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3520440"/>
            <a:ext cx="105156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10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Load current through R2: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+470 A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without DG,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−252 A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 (reversed) with the DG → reverse pickup 1.25 × 252 =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315 A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.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A dial revision could not help: R1 and R2 are already at the ends of their dial ranges.</a:t>
            </a:r>
          </a:p>
          <a:p>
            <a:pPr marL="274320" indent="-274320">
              <a:spcAft>
                <a:spcPts val="10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Fuse revision: F632 → 500E; F633, F646, F-DL, F671-1 → 400E; F692-R → 250E.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10515600" cy="594360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400" b="0" i="0">
                <a:solidFill>
                  <a:srgbClr val="111111"/>
                </a:solidFill>
                <a:latin typeface="Times New Roman"/>
              </a:rPr>
              <a:t>TDS (IAC relay) and TMS (CDG34 relay) are the manufacturers' names for the same thing: the dial that scales the curve.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Base Case Without DG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13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512064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Feeder-head fault level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4.73 kA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Agreement with the IEEE benchmark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within about 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Cells held, starting fuse sizes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35 of 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Cells held, after F692-R → 200E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E7B34"/>
                          </a:solidFill>
                          <a:latin typeface="Times New Roman"/>
                        </a:rPr>
                        <a:t>39 of 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3886200"/>
            <a:ext cx="512064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R2's fast curve is below the fuses and its delayed curve above them.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Without DG the conventional scheme works.</a:t>
            </a:r>
          </a:p>
        </p:txBody>
      </p:sp>
      <p:pic>
        <p:nvPicPr>
          <p:cNvPr id="11" name="Picture 10" descr="fig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5577840" cy="4056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26480" y="5236186"/>
            <a:ext cx="55778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LG fault at 611: R2 fast 0.128 s &lt; F684 melts 0.271 s – coordination held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Branch Currents and Fault Levels – Side by 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14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143000"/>
          <a:ext cx="11475715" cy="39410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0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2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2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26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26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92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92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Branch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 nom (A) study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 nom (A) paper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If,min (kA) study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If,min (kA) paper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If,max (kA) IEEE [7]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If,max (kA) study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If,max (kA) paper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Study vs IEEE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11111"/>
                          </a:solidFill>
                          <a:latin typeface="Times New Roman"/>
                        </a:rPr>
                        <a:t>Paper vs IEEE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RG60–632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587.7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587.1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5.41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-1.3 %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+12.7 %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632–633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81.0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81.1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6.73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-1.1 %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+62.2 %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632–645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143.1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143.3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0.93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+0.2 %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+24.6 %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632–671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470.0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478.2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4.52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+1.2 %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+34.9 %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XFM1-HV side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81.0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81.1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6.48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XFM1-LV side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706.4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704.7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15.67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18.76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645–646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66.1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64.9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+2.0 %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+19.3 %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671–692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229.7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229.3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+1.2 %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+10.1 %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671–684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70.9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+1.3 %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+32.4 %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671–680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2.91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2.93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6.25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+0.7 %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+114.8 %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692–675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205.9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205.9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3.15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7.83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+1.0 %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+151.0 %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684–611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71.1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70.8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1.93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+0.4 %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+4.3 %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684–652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63.0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63.1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7B34"/>
                          </a:solidFill>
                          <a:latin typeface="Times New Roman"/>
                        </a:rPr>
                        <a:t>+4.7 %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62828"/>
                          </a:solidFill>
                          <a:latin typeface="Times New Roman"/>
                        </a:rPr>
                        <a:t>+49.2 %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5047488"/>
            <a:ext cx="114757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Times New Roman"/>
              </a:rPr>
              <a:t>IEEE benchmark: [7] W. H. Kersting and G. Shirek, “Short circuit analysis of IEEE test feeders,” IEEE PES T&amp;D, 2012 (maximum fault current, DG out). Paper: reference [1], Table II.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532120"/>
            <a:ext cx="11475720" cy="713232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250" b="1" i="0">
                <a:solidFill>
                  <a:srgbClr val="111111"/>
                </a:solidFill>
                <a:latin typeface="Times New Roman"/>
              </a:rPr>
              <a:t>Rated currents agree with the paper within 2 %.</a:t>
            </a:r>
            <a:r>
              <a:rPr sz="1250" b="0" i="0">
                <a:solidFill>
                  <a:srgbClr val="111111"/>
                </a:solidFill>
                <a:latin typeface="Times New Roman"/>
              </a:rPr>
              <a:t> If,max: this study is within 2 % of the IEEE benchmark at 10 of 11 nodes (largest 4.7 %); the paper is 4 % to 151 % higher. If,min on the 4.16 kV lines: 0.64 to 1.07 kA here, 0.59 to 1.24 kA in the paper.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Fuse Coefficients – Side by 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15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97280" y="1188720"/>
          <a:ext cx="9966957" cy="42428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17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4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7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76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29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Fuse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If (A)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t fast (s)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t delayed (s)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b (this study)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b (paper, Table III)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Difference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3418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-0.03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4102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2.008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6.83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-0.30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15671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0.439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8.772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8.33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8.32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3418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-0.03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3112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3.115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6.62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-0.05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F-DL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3946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-0.02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3390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6.08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F671-1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3390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5.85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3390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F692-R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3151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1.829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3151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1.829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6.44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F671-2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2655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0.069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2.572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5.87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1857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5.778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1857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5.778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1874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5.66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+0.30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097280" y="5577840"/>
            <a:ext cx="9966960" cy="59436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b="0" i="0">
                <a:solidFill>
                  <a:srgbClr val="111111"/>
                </a:solidFill>
                <a:latin typeface="Times New Roman"/>
              </a:rPr>
              <a:t>Fuse line: log t = a log I + b, with a = −1.8. The coefficients agree within </a:t>
            </a:r>
            <a:r>
              <a:rPr sz="1300" b="1" i="0">
                <a:solidFill>
                  <a:srgbClr val="111111"/>
                </a:solidFill>
                <a:latin typeface="Times New Roman"/>
              </a:rPr>
              <a:t>0.33</a:t>
            </a:r>
            <a:r>
              <a:rPr sz="1300" b="0" i="0">
                <a:solidFill>
                  <a:srgbClr val="111111"/>
                </a:solidFill>
                <a:latin typeface="Times New Roman"/>
              </a:rPr>
              <a:t> for all 15 fuses.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DG Connected, Conventional R2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16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5394960" cy="2514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Cells held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C62828"/>
                          </a:solidFill>
                          <a:latin typeface="Times New Roman"/>
                        </a:rPr>
                        <a:t>24 of 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Cells lost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Lost at nodes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633, 645, 646, DL, 675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Example: three-phase fault near 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trips 0.121 s; fuse melts 0.039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069080"/>
            <a:ext cx="539496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The fuse carries grid + DG current and melts before the fast trip.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For some LG faults the single-setting R2 does not pick up the reverse DG current.</a:t>
            </a:r>
          </a:p>
        </p:txBody>
      </p:sp>
      <p:pic>
        <p:nvPicPr>
          <p:cNvPr id="11" name="Picture 10" descr="fig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19776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202951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Coordination status with DG, conventional 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58983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Times New Roman"/>
              </a:rPr>
              <a:t>Green: held. Red: lost.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Coordination with DG – Side by 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17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Times New Roman"/>
              </a:rPr>
              <a:t>This study</a:t>
            </a:r>
            <a:r>
              <a:rPr sz="1500" b="0" i="0">
                <a:solidFill>
                  <a:srgbClr val="0B2545"/>
                </a:solidFill>
                <a:latin typeface="Times New Roman"/>
              </a:rPr>
              <a:t> – coordination held in 24 of 39 cells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508760"/>
          <a:ext cx="10881351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Fault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634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645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646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671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692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675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680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684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652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611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DL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337560"/>
            <a:ext cx="10881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Times New Roman"/>
              </a:rPr>
              <a:t>Reference paper [1], Fig. 14</a:t>
            </a:r>
            <a:r>
              <a:rPr sz="1500" b="0" i="0">
                <a:solidFill>
                  <a:srgbClr val="0B2545"/>
                </a:solidFill>
                <a:latin typeface="Times New Roman"/>
              </a:rPr>
              <a:t> – coordination held in 30 of 39 cells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3703320"/>
          <a:ext cx="10881351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35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650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Fault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634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645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646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671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692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675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680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684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652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611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DL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×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" y="5486400"/>
            <a:ext cx="10881360" cy="713232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Times New Roman"/>
              </a:rPr>
              <a:t>Agree in 29 of 39 cells</a:t>
            </a:r>
            <a:r>
              <a:rPr sz="1300" b="0" i="0">
                <a:solidFill>
                  <a:srgbClr val="111111"/>
                </a:solidFill>
                <a:latin typeface="Times New Roman"/>
              </a:rPr>
              <a:t> (22 held in both, 7 lost in both). Differ in 10: 8 lost only here (4 of them at DL), 2 lost only in the paper (645). With the DSDR: 38 of 39 here, 39 of 39 in the paper.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Effect of the DG Penetration Level – Side by 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18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5669277" cy="27066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09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8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DG (%)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 633 study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 633 paper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 671 study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 671 paper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+2.1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+26.0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+36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−3.1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+21.5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−9.6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+16.4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−13.9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+13.4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−17.9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+10.7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−24.2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+7.1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−29.2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+4.9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C62828"/>
                          </a:solidFill>
                          <a:latin typeface="Times New Roman"/>
                        </a:rPr>
                        <a:t>−14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023360"/>
            <a:ext cx="5669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>
                <a:solidFill>
                  <a:srgbClr val="444444"/>
                </a:solidFill>
                <a:latin typeface="Times New Roman"/>
              </a:rPr>
              <a:t>Share of the CTI at each penetration level (%). Paper: values read from Fig. 7 of [1].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70832"/>
            <a:ext cx="56692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500"/>
              </a:spcAft>
              <a:buChar char="•"/>
            </a:pPr>
            <a:r>
              <a:rPr sz="1400" b="0" i="0">
                <a:solidFill>
                  <a:srgbClr val="111111"/>
                </a:solidFill>
                <a:latin typeface="Times New Roman"/>
              </a:rPr>
              <a:t>This study, in time: CTI at 633 from </a:t>
            </a:r>
            <a:r>
              <a:rPr sz="1400" b="1" i="0">
                <a:solidFill>
                  <a:srgbClr val="111111"/>
                </a:solidFill>
                <a:latin typeface="Times New Roman"/>
              </a:rPr>
              <a:t>+4 ms to −51 ms</a:t>
            </a:r>
            <a:r>
              <a:rPr sz="1400" b="0" i="0">
                <a:solidFill>
                  <a:srgbClr val="111111"/>
                </a:solidFill>
                <a:latin typeface="Times New Roman"/>
              </a:rPr>
              <a:t>; at 671 from </a:t>
            </a:r>
            <a:r>
              <a:rPr sz="1400" b="1" i="0">
                <a:solidFill>
                  <a:srgbClr val="111111"/>
                </a:solidFill>
                <a:latin typeface="Times New Roman"/>
              </a:rPr>
              <a:t>+403 ms to +75 ms</a:t>
            </a:r>
            <a:r>
              <a:rPr sz="1400" b="0" i="0">
                <a:solidFill>
                  <a:srgbClr val="111111"/>
                </a:solidFill>
                <a:latin typeface="Times New Roman"/>
              </a:rPr>
              <a:t>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400" b="0" i="0">
                <a:solidFill>
                  <a:srgbClr val="111111"/>
                </a:solidFill>
                <a:latin typeface="Times New Roman"/>
              </a:rPr>
              <a:t>The fuse carries grid + DG current, the recloser only the grid share.</a:t>
            </a:r>
          </a:p>
        </p:txBody>
      </p:sp>
      <p:pic>
        <p:nvPicPr>
          <p:cNvPr id="12" name="Picture 11" descr="pen_ring_vs_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5486400" cy="2645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5080" y="3870524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This study (left) and the reference paper (right)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126556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Times New Roman"/>
              </a:rPr>
              <a:t>Outer ring: node 671. Inner ring: node 633.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32120"/>
            <a:ext cx="11338560" cy="68580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Times New Roman"/>
              </a:rPr>
              <a:t>Same trend in both:</a:t>
            </a:r>
            <a:r>
              <a:rPr sz="1300" b="0" i="0">
                <a:solidFill>
                  <a:srgbClr val="111111"/>
                </a:solidFill>
                <a:latin typeface="Times New Roman"/>
              </a:rPr>
              <a:t> the CTI falls steadily as the DG penetration rises. Node 633 turns negative from 10 % here and from 50 % in the paper, because the starting margin here is only +4 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With the DSDR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19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325880"/>
          <a:ext cx="5394960" cy="2286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Scheme (DG connected)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Cells held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Conventional R2, original fuses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DSDR, original fuses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Conventional R2, revised fuses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DSDR, revised fuses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E7B34"/>
                          </a:solidFill>
                          <a:latin typeface="Times New Roman"/>
                        </a:rPr>
                        <a:t>38 of 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840480"/>
            <a:ext cx="53949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The dual setting itself restores </a:t>
            </a:r>
            <a:r>
              <a:rPr sz="1600" b="1" i="0">
                <a:solidFill>
                  <a:srgbClr val="111111"/>
                </a:solidFill>
                <a:latin typeface="Times New Roman"/>
              </a:rPr>
              <a:t>7 cells</a:t>
            </a:r>
            <a:r>
              <a:rPr sz="1600" b="0" i="0">
                <a:solidFill>
                  <a:srgbClr val="111111"/>
                </a:solidFill>
                <a:latin typeface="Times New Roman"/>
              </a:rPr>
              <a:t>: all faults at 633 and the LG faults at 645, 646 and DL.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>
                <a:solidFill>
                  <a:srgbClr val="111111"/>
                </a:solidFill>
                <a:latin typeface="Times New Roman"/>
              </a:rPr>
              <a:t>Still lost: LG fault at 692 – R2's delayed dial is already at its maximum.</a:t>
            </a:r>
          </a:p>
        </p:txBody>
      </p:sp>
      <p:pic>
        <p:nvPicPr>
          <p:cNvPr id="11" name="Picture 10" descr="fig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19776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3202951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Coordination status with the DSDR and revised fuses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458983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66666"/>
                </a:solidFill>
                <a:latin typeface="Times New Roman"/>
              </a:rPr>
              <a:t>Only one cell remains lost.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TCC with the DSDR – Bolted LL Fault at 646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20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2" y="1097280"/>
            <a:ext cx="4714875" cy="342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562856"/>
            <a:ext cx="5715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R2 reverse group (DG share, 1114 A): fast trip 0.086 s</a:t>
            </a:r>
          </a:p>
        </p:txBody>
      </p:sp>
      <p:pic>
        <p:nvPicPr>
          <p:cNvPr id="11" name="Picture 10" descr="fig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2262" y="1097280"/>
            <a:ext cx="4714875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72200" y="4562856"/>
            <a:ext cx="5715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R1 (grid share, 2785 A): fast trip 0.189 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4956048"/>
          <a:ext cx="10515596" cy="12070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Device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Current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Operates at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11111"/>
                          </a:solidFill>
                          <a:latin typeface="Times New Roman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R2, reverse group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1114 A (DG share)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0.086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trips first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R1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2785 A (grid share)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0.189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trips second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Fuse F646 (400E)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3672 A (grid + DG)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111111"/>
                          </a:solidFill>
                          <a:latin typeface="Times New Roman"/>
                        </a:rPr>
                        <a:t>starts to melt at 0.415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1E7B34"/>
                          </a:solidFill>
                          <a:latin typeface="Times New Roman"/>
                        </a:rPr>
                        <a:t>saved, CTI = +226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Operating Times with the DSDR – Side by Side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21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5669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Times New Roman"/>
              </a:rPr>
              <a:t>This study</a:t>
            </a:r>
            <a:r>
              <a:rPr sz="1500" b="0" i="0">
                <a:solidFill>
                  <a:srgbClr val="0B2545"/>
                </a:solidFill>
                <a:latin typeface="Times New Roman"/>
              </a:rPr>
              <a:t> (times in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1115568"/>
            <a:ext cx="56692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0B2545"/>
                </a:solidFill>
                <a:latin typeface="Times New Roman"/>
              </a:rPr>
              <a:t>Reference paper [1], Table IV</a:t>
            </a:r>
            <a:r>
              <a:rPr sz="1500" b="0" i="0">
                <a:solidFill>
                  <a:srgbClr val="0B2545"/>
                </a:solidFill>
                <a:latin typeface="Times New Roman"/>
              </a:rPr>
              <a:t> (times in 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481328"/>
          <a:ext cx="5669277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Fault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R1 fast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R1 delayed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R2 fast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R2 delayed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Fuse melts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1.416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2.111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2.001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0.149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3.095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3.002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0.189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3.770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3.771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0.415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DL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2.123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1.213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2.677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2.677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0.525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3.152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1.941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0.222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4.437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2.813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3.761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0.066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2.381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0.435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8.709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6.986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0.446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8.919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99632" y="1481328"/>
          <a:ext cx="5669277" cy="39227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8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8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5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Node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Fault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R1 fast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R1 delayed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R2 fast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R2 delayed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111111"/>
                          </a:solidFill>
                          <a:latin typeface="Times New Roman"/>
                        </a:rPr>
                        <a:t>Fuse melts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1.398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0.514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0.094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0.706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0.163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2.095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0.276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2.555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2.046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0.181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DL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0.087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1.733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1.402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0.248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2.091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0.068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1.113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692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2.307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1.258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2.414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1.332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684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2.507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1.394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0.205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2.747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0.079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1.555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0.326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6.523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0.146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4.385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0.417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652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LG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0.676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13.525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9.37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0.233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20040" y="5532120"/>
            <a:ext cx="11548872" cy="658368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300" b="1" i="0">
                <a:solidFill>
                  <a:srgbClr val="111111"/>
                </a:solidFill>
                <a:latin typeface="Times New Roman"/>
              </a:rPr>
              <a:t>Same behaviour in both:</a:t>
            </a:r>
            <a:r>
              <a:rPr sz="1300" b="0" i="0">
                <a:solidFill>
                  <a:srgbClr val="111111"/>
                </a:solidFill>
                <a:latin typeface="Times New Roman"/>
              </a:rPr>
              <a:t> the fuse melts after the fast trip; R1 delayed = 20 × R1 fast (dials 0.5 / 10). R1 is slower here in most rows because the fault levels follow the IEEE benchmark; R2's settings are not published in the paper.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Single versus Dual Setting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22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ase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097280"/>
            <a:ext cx="6370319" cy="30175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37360" y="4206240"/>
          <a:ext cx="8686800" cy="186537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Quantity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Single setting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11111"/>
                          </a:solidFill>
                          <a:latin typeface="Times New Roman"/>
                        </a:rPr>
                        <a:t>Dual setting (DSDR)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Current through R2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1777 A, reverse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1777 A, reverse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setting used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Forward: plug 300 / 600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Reverse: plug 150 / 300 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R2 fast trip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0.121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0.052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F633 (400E) starts to melt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0.100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0.100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1111"/>
                          </a:solidFill>
                          <a:latin typeface="Times New Roman"/>
                        </a:rPr>
                        <a:t>Fuse saving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C62828"/>
                          </a:solidFill>
                          <a:latin typeface="Times New Roman"/>
                        </a:rPr>
                        <a:t>LOST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1E7B34"/>
                          </a:solidFill>
                          <a:latin typeface="Times New Roman"/>
                        </a:rPr>
                        <a:t>HELD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Time-Domain (EMT) Verification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23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999041"/>
              </p:ext>
            </p:extLst>
          </p:nvPr>
        </p:nvGraphicFramePr>
        <p:xfrm>
          <a:off x="548640" y="1325880"/>
          <a:ext cx="539496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Event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Without DG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11111"/>
                          </a:solidFill>
                          <a:latin typeface="Times New Roman"/>
                        </a:rPr>
                        <a:t>With DG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 dirty="0">
                          <a:solidFill>
                            <a:srgbClr val="111111"/>
                          </a:solidFill>
                          <a:latin typeface="Times New Roman"/>
                        </a:rPr>
                        <a:t>Fuse F671-2 melts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1.248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0.752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Fuse F671-2 clears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1.613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1.253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11111"/>
                          </a:solidFill>
                          <a:latin typeface="Times New Roman"/>
                        </a:rPr>
                        <a:t>Fuse saving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1E7B34"/>
                          </a:solidFill>
                          <a:latin typeface="Times New Roman"/>
                        </a:rPr>
                        <a:t>works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C62828"/>
                          </a:solidFill>
                          <a:latin typeface="Times New Roman"/>
                        </a:rPr>
                        <a:t>lost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840480"/>
            <a:ext cx="539496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900"/>
              </a:spcAft>
              <a:buChar char="•"/>
            </a:pPr>
            <a:r>
              <a:rPr sz="1600" b="0" i="0" dirty="0">
                <a:solidFill>
                  <a:srgbClr val="111111"/>
                </a:solidFill>
                <a:latin typeface="Times New Roman"/>
              </a:rPr>
              <a:t>LL fault (a–c) at 684 through 0.2 Ω, conventional settings.</a:t>
            </a:r>
          </a:p>
          <a:p>
            <a:pPr marL="274320" indent="-274320">
              <a:spcAft>
                <a:spcPts val="900"/>
              </a:spcAft>
              <a:buChar char="•"/>
            </a:pPr>
            <a:r>
              <a:rPr sz="1600" b="0" i="0" dirty="0">
                <a:solidFill>
                  <a:srgbClr val="111111"/>
                </a:solidFill>
                <a:latin typeface="Times New Roman"/>
              </a:rPr>
              <a:t>With the DG the fuse carries more current, and the DG keeps feeding the fault while R2 is open.</a:t>
            </a:r>
          </a:p>
        </p:txBody>
      </p:sp>
      <p:pic>
        <p:nvPicPr>
          <p:cNvPr id="11" name="Picture 10" descr="fig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68" y="1097280"/>
            <a:ext cx="5456903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705856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444444"/>
                </a:solidFill>
                <a:latin typeface="Times New Roman"/>
              </a:rPr>
              <a:t>Current at node 632: without DG (top), with DG (bottom)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IV: Summary and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24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1325880"/>
          <a:ext cx="10515600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This study (of 39)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11111"/>
                          </a:solidFill>
                          <a:latin typeface="Times New Roman"/>
                        </a:rPr>
                        <a:t>Reference paper [1]</a:t>
                      </a:r>
                    </a:p>
                  </a:txBody>
                  <a:tcPr marL="64008" marR="64008" marT="27432" marB="27432" anchor="ctr">
                    <a:solidFill>
                      <a:srgbClr val="E9EC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No DG, starting fuse sizes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No DG, after the fuse revision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DG connected, conventional R2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DG connected, original fuses, R2 as DSDR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DG connected, revised fuses, conventional R2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DG connected, revised fuses, R2 as DSDR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E7B34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111111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4800600"/>
            <a:ext cx="10515600" cy="77724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 w="12700">
            <a:solidFill>
              <a:srgbClr val="F4A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sz="1500" b="0" i="0">
                <a:solidFill>
                  <a:srgbClr val="111111"/>
                </a:solidFill>
                <a:latin typeface="Times New Roman"/>
              </a:rPr>
              <a:t>Same trend as the reference paper. The counts differ because the model is validated against the IEEE short-circuit benchmark (feeder head 4.73 kA) and uses real dial ranges.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Chapter V: Conclusion and Future Scope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25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11556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B2545"/>
                </a:solidFill>
                <a:latin typeface="Times New Roman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81328"/>
            <a:ext cx="1078992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5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The DSDR method was implemented on the IEEE 13-node feeder in DIgSILENT PowerFactory; the model meets the IEEE benchmark within about 2 %.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Without DG: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35 of 39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cells with the starting fuses,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39 of 39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after the fuse revision.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With the DG, a conventional R2 keeps only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24 of 39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cells: the fuse carries grid + DG current and melts before the fast trip.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DSDR alone: 25; fuse revision alone: 31; DSDR with the fuse revision: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38 of 39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 (zero-margin criterion).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>
                <a:solidFill>
                  <a:srgbClr val="111111"/>
                </a:solidFill>
                <a:latin typeface="Times New Roman"/>
              </a:rPr>
              <a:t>The DSDR is </a:t>
            </a:r>
            <a:r>
              <a:rPr sz="1500" b="1" i="0">
                <a:solidFill>
                  <a:srgbClr val="111111"/>
                </a:solidFill>
                <a:latin typeface="Times New Roman"/>
              </a:rPr>
              <a:t>necessary but not sufficient</a:t>
            </a:r>
            <a:r>
              <a:rPr sz="1500" b="0" i="0">
                <a:solidFill>
                  <a:srgbClr val="111111"/>
                </a:solidFill>
                <a:latin typeface="Times New Roman"/>
              </a:rPr>
              <a:t>: it needs the fuse revision; the LG fault at 692 is limited by R2's delayed dial.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315968"/>
            <a:ext cx="10698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B2545"/>
                </a:solidFill>
                <a:latin typeface="Times New Roman"/>
              </a:rPr>
              <a:t>Recommendation and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81728"/>
            <a:ext cx="10789920" cy="91307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74320" indent="-274320">
              <a:spcAft>
                <a:spcPts val="500"/>
              </a:spcAft>
              <a:buChar char="•"/>
            </a:pPr>
            <a:r>
              <a:rPr sz="1500" b="0" i="0" dirty="0">
                <a:solidFill>
                  <a:srgbClr val="111111"/>
                </a:solidFill>
                <a:latin typeface="Times New Roman"/>
              </a:rPr>
              <a:t>Extend the study to the IEEE 34-node feeder and to inverter-based DG.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 dirty="0">
                <a:solidFill>
                  <a:srgbClr val="111111"/>
                </a:solidFill>
                <a:latin typeface="Times New Roman"/>
              </a:rPr>
              <a:t>Model an explicit directional element for R2, and change the setting group with the state of the DG.</a:t>
            </a:r>
          </a:p>
          <a:p>
            <a:pPr marL="274320" indent="-274320">
              <a:spcAft>
                <a:spcPts val="500"/>
              </a:spcAft>
              <a:buChar char="•"/>
            </a:pPr>
            <a:r>
              <a:rPr sz="1500" b="0" i="0" dirty="0">
                <a:solidFill>
                  <a:srgbClr val="111111"/>
                </a:solidFill>
                <a:latin typeface="Times New Roman"/>
              </a:rPr>
              <a:t>Use a </a:t>
            </a:r>
            <a:r>
              <a:rPr sz="1500" b="0" i="0" dirty="0" err="1">
                <a:solidFill>
                  <a:srgbClr val="111111"/>
                </a:solidFill>
                <a:latin typeface="Times New Roman"/>
              </a:rPr>
              <a:t>recloser</a:t>
            </a:r>
            <a:r>
              <a:rPr sz="1500" b="0" i="0" dirty="0">
                <a:solidFill>
                  <a:srgbClr val="111111"/>
                </a:solidFill>
                <a:latin typeface="Times New Roman"/>
              </a:rPr>
              <a:t> with a wider dial range to recover the remaining </a:t>
            </a:r>
            <a:r>
              <a:rPr sz="1500" b="0" i="0" dirty="0" smtClean="0">
                <a:solidFill>
                  <a:srgbClr val="111111"/>
                </a:solidFill>
                <a:latin typeface="Times New Roman"/>
              </a:rPr>
              <a:t>cell.</a:t>
            </a:r>
            <a:endParaRPr sz="1500" b="0" i="0" dirty="0">
              <a:solidFill>
                <a:srgbClr val="111111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38328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800" b="1" i="0">
                <a:solidFill>
                  <a:srgbClr val="0B2545"/>
                </a:solidFill>
                <a:latin typeface="Times New Roman"/>
              </a:rPr>
              <a:t>References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05840"/>
            <a:ext cx="3154680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26</a:t>
            </a:r>
          </a:p>
        </p:txBody>
      </p:sp>
      <p:sp>
        <p:nvSpPr>
          <p:cNvPr id="5" name="Oval 4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881360" cy="493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[1] M. Yousaf, A. Jalilian, K. M. Muttaqi, and D. Sutanto, “An adaptive overcurrent protection scheme for dual-setting directional recloser and fuse coordination in unbalanced distribution networks with distributed generation,” IEEE Trans. Ind. Appl., vol. 58, no. 2, pp. 1831–1842, 2022.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[2] G. Benmouyal et al., “IEEE standard inverse-time characteristic equations for overcurrent relays,” IEEE Trans. Power Del., vol. 14, no. 3, pp. 868–872, 1999.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[3] A. Naiem, Y. Hegazy, A. Abdelaziz, and M. Elsharkawy, “A classification technique for recloser-fuse coordination in distribution systems with distributed generation,” IEEE Trans. Power Del., vol. 27, no. 1, pp. 176–185, 2012.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[4] GE Multilin, 735/737 Feeder Protection Relay – Instruction Manual (GEK-106291F), 2010.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[5] W. H. Kersting, “Radial distribution test feeders,” IEEE Trans. Power Syst., vol. 6, no. 3, pp. 975–985, 1991.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[6] M. Yousaf, K. M. Muttaqi, and D. Sutanto, “Overcurrent protection scheme for the IEEE 13-node benchmark test feeder with improved selectivity,” in Proc. IEEE PES General Meeting, 2020.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[7] W. H. Kersting and G. Shirek, “Short circuit analysis of IEEE test feeders,” in Proc. IEEE PES T&amp;D, 2012.</a:t>
            </a:r>
          </a:p>
          <a:p>
            <a:pPr>
              <a:spcAft>
                <a:spcPts val="700"/>
              </a:spcAft>
            </a:pPr>
            <a:r>
              <a:rPr sz="1300" b="0" i="0">
                <a:solidFill>
                  <a:srgbClr val="111111"/>
                </a:solidFill>
                <a:latin typeface="Times New Roman"/>
              </a:rPr>
              <a:t>[8] DIgSILENT GmbH, PowerFactory 2021 User Manual, Gomaringen, Germany, 2021.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4000" b="1" i="0">
                <a:solidFill>
                  <a:srgbClr val="0B2545"/>
                </a:solidFill>
                <a:latin typeface="Times New Roman"/>
              </a:rPr>
              <a:t>Thank You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480560" y="3429000"/>
            <a:ext cx="3227832" cy="0"/>
          </a:xfrm>
          <a:prstGeom prst="line">
            <a:avLst/>
          </a:prstGeom>
          <a:ln w="25400">
            <a:solidFill>
              <a:srgbClr val="F4A1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3611880"/>
            <a:ext cx="12191695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 i="0">
                <a:solidFill>
                  <a:srgbClr val="444444"/>
                </a:solidFill>
                <a:latin typeface="Times New Roman"/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336792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777777"/>
                </a:solidFill>
                <a:latin typeface="Times New Roman"/>
              </a:rPr>
              <a:t>27</a:t>
            </a:r>
          </a:p>
        </p:txBody>
      </p:sp>
      <p:sp>
        <p:nvSpPr>
          <p:cNvPr id="6" name="Oval 5"/>
          <p:cNvSpPr/>
          <p:nvPr/>
        </p:nvSpPr>
        <p:spPr>
          <a:xfrm>
            <a:off x="11521440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686032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850624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015216" y="6446520"/>
            <a:ext cx="64008" cy="6400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67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4654</Words>
  <Application>Microsoft Office PowerPoint</Application>
  <PresentationFormat>Widescreen</PresentationFormat>
  <Paragraphs>989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Rabin</cp:lastModifiedBy>
  <cp:revision>6</cp:revision>
  <dcterms:created xsi:type="dcterms:W3CDTF">2013-01-27T09:14:16Z</dcterms:created>
  <dcterms:modified xsi:type="dcterms:W3CDTF">2026-10-06T05:53:32Z</dcterms:modified>
  <cp:category/>
</cp:coreProperties>
</file>